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77361"/>
  </p:normalViewPr>
  <p:slideViewPr>
    <p:cSldViewPr snapToGrid="0">
      <p:cViewPr varScale="1">
        <p:scale>
          <a:sx n="118" d="100"/>
          <a:sy n="118" d="100"/>
        </p:scale>
        <p:origin x="21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3AAAD-64A8-144D-A372-77E8005A9C6E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DFF1F3-8422-414A-A393-CB90D09FA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84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of the number of actives per uniport target. </a:t>
            </a:r>
          </a:p>
          <a:p>
            <a:r>
              <a:rPr lang="en-US" dirty="0"/>
              <a:t>X-axis is for Uniport ID and y-axis is the number of actives for each uniport target. Each bar represents the number of actives for each uniport target.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FF1F3-8422-414A-A393-CB90D09FAB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52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of the Top-50 uniport targets by the number of actives. </a:t>
            </a:r>
          </a:p>
          <a:p>
            <a:r>
              <a:rPr lang="en-US" dirty="0"/>
              <a:t>This takes the top-50 uniport targets with most actives. X-axis is their uniport ID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FF1F3-8422-414A-A393-CB90D09FAB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73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Distribution of the Bottom-50 uniport targets by the number of actives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takes the bottom-50 uniport targets with fewest actives. X-axis is their uniport ID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FF1F3-8422-414A-A393-CB90D09FAB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94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Making zoom-in view of the distribution of actives per uniport target by on each end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FF1F3-8422-414A-A393-CB90D09FAB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42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number of actives after each data curation step. </a:t>
            </a:r>
          </a:p>
          <a:p>
            <a:r>
              <a:rPr lang="en-US" dirty="0"/>
              <a:t>Initial: the raw affinity data retrieved from </a:t>
            </a:r>
            <a:r>
              <a:rPr lang="en-US" dirty="0" err="1"/>
              <a:t>chembl</a:t>
            </a:r>
            <a:r>
              <a:rPr lang="en-US" dirty="0"/>
              <a:t>  database by querying with uniport IDs</a:t>
            </a:r>
          </a:p>
          <a:p>
            <a:r>
              <a:rPr lang="en-US" dirty="0"/>
              <a:t>Type: Keep only affinity data that are of type Ki or IC50</a:t>
            </a:r>
          </a:p>
          <a:p>
            <a:r>
              <a:rPr lang="en-US" dirty="0"/>
              <a:t>Units: Keep only affinity data with the ‘</a:t>
            </a:r>
            <a:r>
              <a:rPr lang="en-US" dirty="0" err="1"/>
              <a:t>nM</a:t>
            </a:r>
            <a:r>
              <a:rPr lang="en-US" dirty="0"/>
              <a:t>’ unit</a:t>
            </a:r>
          </a:p>
          <a:p>
            <a:r>
              <a:rPr lang="en-US" dirty="0"/>
              <a:t>Relation: keep only affinity data that are of type “=“ not “&lt;=” or “&gt;=“ because some affinity is e.g. &lt;= 50nM</a:t>
            </a:r>
          </a:p>
          <a:p>
            <a:r>
              <a:rPr lang="en-US" dirty="0"/>
              <a:t>Validity: keep only affinity data where they have a validity comment </a:t>
            </a:r>
          </a:p>
          <a:p>
            <a:r>
              <a:rPr lang="en-US" dirty="0"/>
              <a:t>Confidence:  keep only data with a confidence score greater than or equal to 9</a:t>
            </a:r>
          </a:p>
          <a:p>
            <a:r>
              <a:rPr lang="en-US" dirty="0"/>
              <a:t>Docs: keep only affinity data which have confirmed document publishing date</a:t>
            </a:r>
          </a:p>
          <a:p>
            <a:r>
              <a:rPr lang="en-US" dirty="0"/>
              <a:t>No Mutants: no keep only affinity data that does not have “mutant”, “mutation”, “variant” in any of their assay description information </a:t>
            </a:r>
          </a:p>
          <a:p>
            <a:r>
              <a:rPr lang="en-US" dirty="0"/>
              <a:t>Assay size: keep only uniport targets with more than 10 actives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FF1F3-8422-414A-A393-CB90D09FAB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421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 result where we try to find compounds that appear in at least two assays to check if their results are consistent. </a:t>
            </a:r>
          </a:p>
          <a:p>
            <a:r>
              <a:rPr lang="en-US" dirty="0"/>
              <a:t>It can be shown that after the filtering,  for those compounds that appear in at least two assays, they have a pretty high correlation, suggesting a consistency of the measure activity value. </a:t>
            </a:r>
          </a:p>
          <a:p>
            <a:r>
              <a:rPr lang="en-US" dirty="0"/>
              <a:t>So we can partially conclude that the basic filtering is effective.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FF1F3-8422-414A-A393-CB90D09FAB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44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comparison, this  also checks if the compounds appear in at least two assays. Additionally, it also checks if the two assays have matching assay annotation: \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assay_organism_enriched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assay_tissue_enriched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assay_cell_type_enriched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assay_subcellular_fraction_enriched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assay_bao_format_enriched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’,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results are similar to that in minimal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overalp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filtering. 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FF1F3-8422-414A-A393-CB90D09FAB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77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violin plot of physical chemistry properties (molecular weight, </a:t>
            </a:r>
            <a:r>
              <a:rPr lang="en-US" dirty="0" err="1"/>
              <a:t>LogP</a:t>
            </a:r>
            <a:r>
              <a:rPr lang="en-US" dirty="0"/>
              <a:t>, number of hydrogen bond donors, number of hydrogen bond acceptors, topological polar surface,  number of rotatable bonds) of actives and generated decoys for a particular uniport target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O14684.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FF1F3-8422-414A-A393-CB90D09FAB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569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Shape Similarity of the Active and generated decoys measured in Tanimoto Distance for a particular uniport target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O14684.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X-axis is the Tanimoto distance and y-axis is the count of the active-decoys pairs with that particular Tanimoto distance.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FF1F3-8422-414A-A393-CB90D09FAB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53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CDF 6 physical chemistry properties (molecular weight, </a:t>
            </a:r>
            <a:r>
              <a:rPr lang="en-US" dirty="0" err="1"/>
              <a:t>LogP</a:t>
            </a:r>
            <a:r>
              <a:rPr lang="en-US" dirty="0"/>
              <a:t>, number of hydrogen bond donors, number of hydrogen bond acceptors, topological polar surface,  number of rotatable bonds) of actives and generated decoys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FF1F3-8422-414A-A393-CB90D09FAB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33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1F08-3ECC-7B06-DF4B-4D4BC8A43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32B08-569B-E63E-7B4D-B64606B1D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3FC34-F582-8741-0D8F-FCF8CA0A4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82D1-8EFC-5C47-B5A5-4FF8DCEE8B43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9DD49-C29C-93A7-789A-27FC9BF3F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9808E-E4F6-BBCD-8C48-5F5FE64C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E902-C5C0-324F-95F3-8396A3EAD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B326-D199-9467-4E71-CAE74C4A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DC9F0-75F7-B304-3933-5C851A2C0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49836-3612-D6A8-E542-44615AD24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82D1-8EFC-5C47-B5A5-4FF8DCEE8B43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B7CCF-8183-08EA-1A29-67AB946A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07E75-4624-E667-3D23-6ABED8A3A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E902-C5C0-324F-95F3-8396A3EAD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17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EE402-C8CC-8E96-8E7E-258280181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3650D-9A3A-449C-009F-986A34102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CF1D8-2A35-C2DA-04BE-C5343B795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82D1-8EFC-5C47-B5A5-4FF8DCEE8B43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54963-28B6-1DAE-2B61-8B7836E6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89F6B-3CFE-812C-2852-5B77FD5BC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E902-C5C0-324F-95F3-8396A3EAD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81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1AC3F-72B6-9D5D-56CF-C5835227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567AF-1563-42C8-CAFF-661E7B101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6B958-F5FD-E3FB-99C9-3491C33A6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E7AF9-A0BC-CBD2-CBEC-8E10C611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82D1-8EFC-5C47-B5A5-4FF8DCEE8B43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34A81-20C9-2261-806E-2CAD2E49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05CBA-3B7F-06F5-2DA8-A61C184A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E902-C5C0-324F-95F3-8396A3EAD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84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A925-AB45-B645-17BF-91DFF2BB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B1194-56C0-B1CE-9A23-EA5D90417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27ED3-1071-C8AF-145C-9B38CE27D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2AA4EA-6A2E-580D-A709-9DE069D3B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A6C54-637F-D780-7B7D-F04E560BB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F8CFDE-335E-1944-1F2B-022F2B908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82D1-8EFC-5C47-B5A5-4FF8DCEE8B43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E9E65E-265B-5F23-402D-821D88EC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88FC12-523B-25BC-958E-3F159DFD8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E902-C5C0-324F-95F3-8396A3EAD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36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3776-5AB7-D90E-A98E-EFC20C74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12BD8-B2BA-23CE-88F5-287EA41DF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82D1-8EFC-5C47-B5A5-4FF8DCEE8B43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77576-EB74-7D3D-2C09-AE2F873D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E273D-E5CA-CC4F-A7EA-04FE71AE5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E902-C5C0-324F-95F3-8396A3EAD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20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8BBDA7-CDCB-A546-E2BC-3735271A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82D1-8EFC-5C47-B5A5-4FF8DCEE8B43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607650-CBBA-A26C-5D6E-5C2A2CD43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9A23B-A9D0-AC17-3524-F0C1A5E2E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E902-C5C0-324F-95F3-8396A3EAD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9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0EF7-DFB7-DD86-B171-401047DBE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3972A-6D31-AC8E-5535-783B48B9F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F1F51-AFA7-84E2-7743-359E06488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8BBC2-DB36-23D5-3640-E79EF784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82D1-8EFC-5C47-B5A5-4FF8DCEE8B43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C4E7C-731B-EA3B-6670-4B57C7CD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56600-A23C-10FD-E49A-EA3C0419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E902-C5C0-324F-95F3-8396A3EAD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42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03D5-483D-832A-A028-95662B17C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5C6C77-4633-2372-BA19-2676C9484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69766-A1ED-DFD9-CD6B-A777009F3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08F28-3A17-4873-D8E3-FDBDC2FE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82D1-8EFC-5C47-B5A5-4FF8DCEE8B43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1B74B-AD6D-D982-F695-2C3FBE08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6389E-18CB-16FA-5C02-A4B7BA0F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E902-C5C0-324F-95F3-8396A3EAD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19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4B2D-2B6F-7E09-E7C9-5C251318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FC90C-038E-4BAD-3FB2-E0EEFE042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C9760-0319-E879-838D-3ACE8178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82D1-8EFC-5C47-B5A5-4FF8DCEE8B43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6B221-EDA3-C5C6-51A8-F90AF12AF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02796-29F4-1416-397F-B1E5A2D83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E902-C5C0-324F-95F3-8396A3EAD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8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1896AC-DB02-7166-992A-501DA7635F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F9CF8-728F-6031-E984-EB1E33AA2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B5447-2355-02A9-F3A3-19481499B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82D1-8EFC-5C47-B5A5-4FF8DCEE8B43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081D4-C7EB-276F-8902-3FC8C8A5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78A9D-AB73-25C0-DEE8-20D165861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E902-C5C0-324F-95F3-8396A3EAD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0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21EF2-3ADA-48FB-8FCE-804724B09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E8C51-3156-B8DA-C289-D6B9AEBED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C77F6-DB4D-63F8-550C-1193E6476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482D1-8EFC-5C47-B5A5-4FF8DCEE8B43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F9F75-3364-A854-EC08-5E8F448D5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7AA58-F371-2D24-D51F-250FDE28D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0E902-C5C0-324F-95F3-8396A3EAD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06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aph showing a distribution of actives across uniprot targets&#10;&#10;AI-generated content may be incorrect.">
            <a:extLst>
              <a:ext uri="{FF2B5EF4-FFF2-40B4-BE49-F238E27FC236}">
                <a16:creationId xmlns:a16="http://schemas.microsoft.com/office/drawing/2014/main" id="{F577E794-B087-22D3-1ED9-D32C3E166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098042"/>
            <a:ext cx="10905066" cy="466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40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number of actives&#10;&#10;AI-generated content may be incorrect.">
            <a:extLst>
              <a:ext uri="{FF2B5EF4-FFF2-40B4-BE49-F238E27FC236}">
                <a16:creationId xmlns:a16="http://schemas.microsoft.com/office/drawing/2014/main" id="{84BB5295-CF0B-AA19-7EF2-E872C835B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702734"/>
            <a:ext cx="10905066" cy="545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31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22A8ED9C-694C-EC1D-B283-0D72347F8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702734"/>
            <a:ext cx="10905066" cy="545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440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ctives and actives&#10;&#10;AI-generated content may be incorrect.">
            <a:extLst>
              <a:ext uri="{FF2B5EF4-FFF2-40B4-BE49-F238E27FC236}">
                <a16:creationId xmlns:a16="http://schemas.microsoft.com/office/drawing/2014/main" id="{F1498426-5AAA-1B8D-89DE-4FFFDD33D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7187" y="410404"/>
            <a:ext cx="11797626" cy="5833991"/>
          </a:xfrm>
        </p:spPr>
      </p:pic>
    </p:spTree>
    <p:extLst>
      <p:ext uri="{BB962C8B-B14F-4D97-AF65-F5344CB8AC3E}">
        <p14:creationId xmlns:p14="http://schemas.microsoft.com/office/powerpoint/2010/main" val="329899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F5DA1B2C-0F1D-4678-DC29-F1E6BAD1B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702734"/>
            <a:ext cx="10905066" cy="545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1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graph&#10;&#10;AI-generated content may be incorrect.">
            <a:extLst>
              <a:ext uri="{FF2B5EF4-FFF2-40B4-BE49-F238E27FC236}">
                <a16:creationId xmlns:a16="http://schemas.microsoft.com/office/drawing/2014/main" id="{D16CFAB2-16BE-7F40-D725-7076C3220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288881"/>
            <a:ext cx="10905066" cy="428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97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6B10E9B-9943-A039-9456-A3D006D0B0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288881"/>
            <a:ext cx="10905066" cy="428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36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0B20A96-17EA-7D3F-8720-CFE68730B0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7228" y="643466"/>
            <a:ext cx="8377544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383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4924470-DC12-D6BF-11BC-ECD45473A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81130" y="643466"/>
            <a:ext cx="7029740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98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D10B6397-A3E1-06BB-83DF-59DB7D3CB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44315" y="643466"/>
            <a:ext cx="810336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28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545</Words>
  <Application>Microsoft Macintosh PowerPoint</Application>
  <PresentationFormat>Widescreen</PresentationFormat>
  <Paragraphs>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 Xu</dc:creator>
  <cp:lastModifiedBy>Ao Xu</cp:lastModifiedBy>
  <cp:revision>21</cp:revision>
  <dcterms:created xsi:type="dcterms:W3CDTF">2025-12-13T23:06:14Z</dcterms:created>
  <dcterms:modified xsi:type="dcterms:W3CDTF">2025-12-14T07:20:38Z</dcterms:modified>
</cp:coreProperties>
</file>